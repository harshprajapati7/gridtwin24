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6675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7CFB5"/>
                </a:solidFill>
                <a:latin typeface="Aptos"/>
              </a:rPr>
              <a:t>TOMORROW’S LOAD  / 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768096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EEF4FB"/>
                </a:solidFill>
                <a:latin typeface="Aptos"/>
              </a:rPr>
              <a:t>GRIDTWIN-24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075688"/>
            <a:ext cx="7498079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A2B5C9"/>
                </a:solidFill>
                <a:latin typeface="Aptos"/>
              </a:rPr>
              <a:t>Forecast-to-Physics Energy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761488"/>
            <a:ext cx="6766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6B84B"/>
                </a:solidFill>
                <a:latin typeface="Aptos"/>
              </a:rPr>
              <a:t>Tomorrow’s demand. Today’s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3703320"/>
            <a:ext cx="5166360" cy="1243584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68496"/>
            <a:ext cx="468172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EEF4FB"/>
                </a:solidFill>
                <a:latin typeface="Aptos"/>
              </a:rPr>
              <a:t>24-hour forecast  →  PV / battery scenarios  →  12 V DC bench validation path</a:t>
            </a:r>
          </a:p>
        </p:txBody>
      </p:sp>
      <p:pic>
        <p:nvPicPr>
          <p:cNvPr id="9" name="Picture 8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051560"/>
            <a:ext cx="493776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998464"/>
            <a:ext cx="7772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2B5C9"/>
                </a:solidFill>
                <a:latin typeface="Aptos"/>
              </a:rPr>
              <a:t>Open-source • Gemma 4 operator • 12 V DC bench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46520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A2B5C9"/>
                </a:solidFill>
                <a:latin typeface="Aptos"/>
              </a:rPr>
              <a:t>Working project name — trademark/domain check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01 / THE OFFICIAL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Tomorrow’s load is not just a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The organisers ask for the next 24 hourly demand values and a forecast-vs-actual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64008" cy="150876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93392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Forecast 24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95728"/>
            <a:ext cx="3090672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Predict one complete next-day hourly demand profile from past demand and related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64008" cy="150876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Evaluate honestly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95728"/>
            <a:ext cx="3090672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Compare against actuals using time-respecting rolling-origin evaluation and a seasonal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64008" cy="1508760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93392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Make it actionable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95728"/>
            <a:ext cx="3090672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Show peak windows, uncertainty where calibrated, and explain the operational implications.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67328"/>
            <a:ext cx="10972800" cy="1417320"/>
          </a:xfrm>
          <a:prstGeom prst="roundRect">
            <a:avLst>
              <a:gd name="adj" fmla="val 12000"/>
            </a:avLst>
          </a:prstGeom>
          <a:solidFill>
            <a:srgbClr val="17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05072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7CFB5"/>
                </a:solidFill>
                <a:latin typeface="Aptos"/>
              </a:rPr>
              <a:t>Core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941063"/>
            <a:ext cx="9006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EEF4FB"/>
                </a:solidFill>
                <a:latin typeface="Aptos"/>
              </a:rPr>
              <a:t>The provided dataset and the official 24-hour forecasting task remain the product’s source of truth. The hardware, scheduler and Gemma agent are extensions — never substitutes.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989320"/>
            <a:ext cx="10607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2B5C9"/>
                </a:solidFill>
                <a:latin typeface="Aptos"/>
              </a:rPr>
              <a:t>Source: official Hacktoberfest Hack Day Lucknow problem-statement PDF, page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02 / 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Close the loop between prediction and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Forecast → scenario → approval → measured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560320" cy="205740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7CFB5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33472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EF4FB"/>
                </a:solidFill>
                <a:latin typeface="Aptos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27248"/>
            <a:ext cx="21488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24-hour demand curve and peak flags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3" y="276148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6B84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965960"/>
            <a:ext cx="2560320" cy="205740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217627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7CFB5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2633472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EF4FB"/>
                </a:solidFill>
                <a:latin typeface="Aptos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3127248"/>
            <a:ext cx="21488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Uncertainty, drivers and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3" y="276148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6B84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65960"/>
            <a:ext cx="2560320" cy="205740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17627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7CFB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633472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EF4FB"/>
                </a:solidFill>
                <a:latin typeface="Aptos"/>
              </a:rPr>
              <a:t>SIMULATE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127248"/>
            <a:ext cx="21488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Tariff, capacity and flexible-load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761488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6B84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1965960"/>
            <a:ext cx="2560320" cy="205740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217627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7CFB5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633472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EEF4FB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127248"/>
            <a:ext cx="21488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Measure the response on a safe physical DC bench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1772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17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64608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6B84B"/>
                </a:solidFill>
                <a:latin typeface="Aptos"/>
              </a:rPr>
              <a:t>The physical rig is a development testbed, not a real grid emulator or a mains controller.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03 / WHO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Energy affects everyone; sell first to someone who can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Start with a facility manager, not “every consumer” as the first customer.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50876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Hostels &amp; campuses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2999232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Multiple buildings, pumps, HVAC, kitchens and a facilities owner who can test a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874519"/>
            <a:ext cx="64008" cy="150876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03911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Apartments &amp; clinics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41448"/>
            <a:ext cx="2999232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Shared loads, common-area energy, pumps and operating schedules.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874519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874519"/>
            <a:ext cx="64008" cy="1508760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3911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Small commercial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41448"/>
            <a:ext cx="2999232" cy="850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Hotels, co-working, retail and workshops with repeated energy bills.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6908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CFB5"/>
                </a:solidFill>
                <a:latin typeface="Aptos"/>
              </a:rPr>
              <a:t>The product should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98848"/>
            <a:ext cx="106070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300" b="1">
                <a:solidFill>
                  <a:srgbClr val="EEF4FB"/>
                </a:solidFill>
                <a:latin typeface="Aptos"/>
              </a:rPr>
              <a:t>“What will our demand look like tomorrow, which hours need attention, and what can we safely move?”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724144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2B5C9"/>
                </a:solidFill>
                <a:latin typeface="Aptos"/>
              </a:rPr>
              <a:t>Household edition comes later, once data access, meter integrations and the value proposition are validated.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04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One system, three bounded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Forecasting, decision logic and language interface stay separate.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27632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05 / SCIENTIFIC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A forecast only counts if it survives a fair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No random row split. No future leakage. No interval without calibration.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synthetic_forecas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91640"/>
            <a:ext cx="66751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755648"/>
            <a:ext cx="3886200" cy="1042415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755648"/>
            <a:ext cx="64008" cy="1042415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920240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Benchmark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322576"/>
            <a:ext cx="35021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Seasonal-naive baseline; retain it if the ML model fails to beat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971800"/>
            <a:ext cx="3886200" cy="1042415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2971800"/>
            <a:ext cx="64008" cy="1042415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136392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Rolling origin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538728"/>
            <a:ext cx="35021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Each test forecast sees only the history available at that forecast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187952"/>
            <a:ext cx="3886200" cy="1042415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4187952"/>
            <a:ext cx="64008" cy="1042415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4352544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Honest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4754880"/>
            <a:ext cx="3502152" cy="3840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Show empirical bands only when calibration residuals support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86400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6B84B"/>
                </a:solidFill>
                <a:latin typeface="Aptos"/>
              </a:rPr>
              <a:t>Important: this plotted series is synthetic smoke-test data, not the organiser dataset or a claimed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06 / PHYSICAL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A 12 V DC energy bench designed for safe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12 V DC only • three loads • physical E-stop • local ARM interlock.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hardware_h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4208"/>
            <a:ext cx="7498079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810512"/>
            <a:ext cx="3337560" cy="10515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1810512"/>
            <a:ext cx="64008" cy="105156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1975104"/>
            <a:ext cx="2971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2377440"/>
            <a:ext cx="295351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ESP32 DevKit + Wi-Fi / MQTT telemetry.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054096"/>
            <a:ext cx="3337560" cy="10515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3054096"/>
            <a:ext cx="64008" cy="105156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3218688"/>
            <a:ext cx="2971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3621024"/>
            <a:ext cx="295351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2B5C9"/>
                </a:solidFill>
                <a:latin typeface="Aptos"/>
              </a:rPr>
              <a:t>INA3221: 3-channel voltage/current monitoring; check exact shunt limits.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4297680"/>
            <a:ext cx="3337560" cy="10515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4297680"/>
            <a:ext cx="64008" cy="1051560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4462272"/>
            <a:ext cx="2971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Actuation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864608"/>
            <a:ext cx="2953512" cy="3931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2B5C9"/>
                </a:solidFill>
                <a:latin typeface="Aptos"/>
              </a:rPr>
              <a:t>Fused DC branches + logic MOSFET drivers + physical E-stop and ARM switch.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108192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EC6767"/>
                </a:solidFill>
                <a:latin typeface="Aptos"/>
              </a:rPr>
              <a:t>No AC mains. No building wiring. Commercial control requires certified devices and qualified installation.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07 / GEMMA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The agent operates tools; it does not invent the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Native function calling turns an operator question into a verifiable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201168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063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Ask in 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3044952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A2B5C9"/>
                </a:solidFill>
                <a:latin typeface="Aptos"/>
              </a:rPr>
              <a:t>“Why is tomorrow’s peak at 19:00? Move the demo pump without crossing the capacity limit.”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64008" cy="201168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63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Call deterministic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41448"/>
            <a:ext cx="3044952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get_forecast()
explain_peak()
run_load_shift_scenario()
get_live_telemetry()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64008" cy="2011680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039112"/>
            <a:ext cx="3063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Return grounded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41448"/>
            <a:ext cx="3044952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Numbers come from Python. Tool outputs are logged. Hardware changes require confirmation and interlocks.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10927080" cy="822960"/>
          </a:xfrm>
          <a:prstGeom prst="roundRect">
            <a:avLst>
              <a:gd name="adj" fmla="val 12000"/>
            </a:avLst>
          </a:prstGeom>
          <a:solidFill>
            <a:srgbClr val="17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81728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EF4FB"/>
                </a:solidFill>
                <a:latin typeface="Aptos"/>
              </a:rPr>
              <a:t>Gemma 4 supports image / multimodal inputs and function calling; the application must validate and execute tool calls safely.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742432"/>
            <a:ext cx="10424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2B5C9"/>
                </a:solidFill>
                <a:latin typeface="Aptos"/>
              </a:rPr>
              <a:t>Model reference: official Google AI for Developers Gemma 4 model card and function-calling guide.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08 / ENERGY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Optimise the energy system, not just the next-day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A constrained LP models energy balance, battery SOC and real operating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battery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690372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783080"/>
            <a:ext cx="3703320" cy="10972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783080"/>
            <a:ext cx="64008" cy="109728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9288" y="1947672"/>
            <a:ext cx="3337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Physical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350008"/>
            <a:ext cx="33192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Charge / discharge power, SOC reserve, efficiencies and grid import cap.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063240"/>
            <a:ext cx="3703320" cy="10972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063240"/>
            <a:ext cx="64008" cy="109728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3227832"/>
            <a:ext cx="3337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Economic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3630168"/>
            <a:ext cx="33192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Import / export tariff, battery degradation and optional peak-demand charge.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343400"/>
            <a:ext cx="3703320" cy="10972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4343400"/>
            <a:ext cx="64008" cy="1097280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4507992"/>
            <a:ext cx="3337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No free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4910328"/>
            <a:ext cx="33192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Terminal battery SOC is forced back to its starting level in the 24-hour simulation.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099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EC6767"/>
                </a:solidFill>
                <a:latin typeface="Aptos"/>
              </a:rPr>
              <a:t>Simulation only: does not control a real battery and does not claim measured savings.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09 /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From “what happens tomorrow?” to measured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A product loop customers can use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produc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1097280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5029200" cy="8229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257800"/>
            <a:ext cx="64008" cy="82296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422392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Read-only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824728"/>
            <a:ext cx="46451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Upload bill / interval data; receive forecast, peak report and scenario.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5257800"/>
            <a:ext cx="5029200" cy="82296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5257800"/>
            <a:ext cx="64008" cy="822960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5422392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Automation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5824728"/>
            <a:ext cx="46451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Only after paid pilot, approved meter access and certified control equipment.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10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Start narrow, prove ROI, then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Software-first B2B beats selling hardware before product-market 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55448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Pilot buyer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2999232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Campus / hostel / apartment operator with interval data and a facilities owner.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74519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874519"/>
            <a:ext cx="64008" cy="155448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03911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Recurring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41448"/>
            <a:ext cx="2999232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Peak forecasts, weekly reports, scenario decisions and multi-site comparisons.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874519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874519"/>
            <a:ext cx="64008" cy="1554480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3911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Revenue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41448"/>
            <a:ext cx="2999232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Per-site SaaS → paid commissioning → gateway / integrations → multi-site contracts.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069080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CFB5"/>
                </a:solidFill>
                <a:latin typeface="Aptos"/>
              </a:rPr>
              <a:t>The ROI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8056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EEF4FB"/>
                </a:solidFill>
                <a:latin typeface="Aptos"/>
              </a:rPr>
              <a:t>Baseline meter data → agreed intervention → measured kWh / peak / cost → operational impact check.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577840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6B84B"/>
                </a:solidFill>
                <a:latin typeface="Aptos"/>
              </a:rPr>
              <a:t>No savings percentage should be claimed before a real site pilot.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11 / COMPETITIVE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Energy dashboards already exist. We must be more 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Do not claim that forecasting, digital twins or HIL are globally unprecedented.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429000" cy="164592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64008" cy="1645920"/>
          </a:xfrm>
          <a:prstGeom prst="rect">
            <a:avLst/>
          </a:prstGeom>
          <a:solidFill>
            <a:srgbClr val="EC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93392"/>
            <a:ext cx="3063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Existing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95728"/>
            <a:ext cx="304495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Home Assistant, commercial building-energy platforms and microgrid digital-twin research already cover adjacent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164592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4008" cy="1645920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93392"/>
            <a:ext cx="3063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Our wedge to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95728"/>
            <a:ext cx="304495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Vendor-neutral, low-cost forecasting + constrained scenarios + measured low-voltage validation for smaller multi-building sites.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828800"/>
            <a:ext cx="3429000" cy="1645920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828800"/>
            <a:ext cx="64008" cy="1645920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93392"/>
            <a:ext cx="3063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What becomes defensible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95728"/>
            <a:ext cx="3044952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Real site integrations, forecast calibration, workflow adoption, measured outcomes and trusted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1480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17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370832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If a customer cannot share data or identify a recurring decision, do not build a custom hardware product for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12 / RED-TEAM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The project is ambitious, but its claims must stay bounded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These are the conditions that prevent a good demo from becoming a bad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166360" cy="1069848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64008" cy="1069848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Data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0008"/>
            <a:ext cx="4782312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Audit timestamp, unit, cadence and timezone.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166360" cy="1069848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64008" cy="1069848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947672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50008"/>
            <a:ext cx="4782312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Rolling-origin 24-hour evaluation; no random split.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81528"/>
            <a:ext cx="5166360" cy="1069848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081528"/>
            <a:ext cx="64008" cy="1069848"/>
          </a:xfrm>
          <a:prstGeom prst="rect">
            <a:avLst/>
          </a:prstGeom>
          <a:solidFill>
            <a:srgbClr val="F6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246120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False intervals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48456"/>
            <a:ext cx="4782312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Calibrate and report coverage, or withhold them.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81528"/>
            <a:ext cx="5166360" cy="1069848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081528"/>
            <a:ext cx="64008" cy="1069848"/>
          </a:xfrm>
          <a:prstGeom prst="rect">
            <a:avLst/>
          </a:prstGeom>
          <a:solidFill>
            <a:srgbClr val="EC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246120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Grid/site 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48456"/>
            <a:ext cx="4782312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Keep challenge grid series separate from local site profile.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79976"/>
            <a:ext cx="5166360" cy="1069848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379976"/>
            <a:ext cx="64008" cy="1069848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544568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Unsafe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946904"/>
            <a:ext cx="4782312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12 V DC bench, fuse, E-stop, physical ARM, fail OFF.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379976"/>
            <a:ext cx="5166360" cy="1069848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379976"/>
            <a:ext cx="64008" cy="1069848"/>
          </a:xfrm>
          <a:prstGeom prst="rect">
            <a:avLst/>
          </a:prstGeom>
          <a:solidFill>
            <a:srgbClr val="53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544568"/>
            <a:ext cx="4800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No market 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946904"/>
            <a:ext cx="4782312" cy="4114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Paid read-only pilot before field hardware.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13 /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Build the forecast first. Hardware is the final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A disciplined order keeps the required problem statement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7CFB5"/>
                </a:solidFill>
                <a:latin typeface="Aptos"/>
              </a:rP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EF4FB"/>
                </a:solidFill>
                <a:latin typeface="Aptos"/>
              </a:rPr>
              <a:t>DATA +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7223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Dataset audit, baseline, rolling evaluation, 24 outputs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743200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90779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7CFB5"/>
                </a:solidFill>
                <a:latin typeface="Aptos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EF4FB"/>
                </a:solidFill>
                <a:latin typeface="Apto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07792"/>
            <a:ext cx="7223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Forecast vs actual, peak windows, explanation and interval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639312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03904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7CFB5"/>
                </a:solidFill>
                <a:latin typeface="Aptos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03904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EF4FB"/>
                </a:solidFill>
                <a:latin typeface="Aptos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03904"/>
            <a:ext cx="7223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Gemma 4 tool calling over tested functions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535424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700016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7CFB5"/>
                </a:solidFill>
                <a:latin typeface="Aptos"/>
              </a:rPr>
              <a:t>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00016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EF4FB"/>
                </a:solidFill>
                <a:latin typeface="Aptos"/>
              </a:rPr>
              <a:t>HIL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700016"/>
            <a:ext cx="7223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2B5C9"/>
                </a:solidFill>
                <a:latin typeface="Aptos"/>
              </a:rPr>
              <a:t>ESP32 + INA3221 + 12 V fused DC energy bench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56692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EEF4FB"/>
                </a:solidFill>
                <a:latin typeface="Aptos"/>
              </a:rPr>
              <a:t>GRIDTWIN-24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481328"/>
            <a:ext cx="7863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27CFB5"/>
                </a:solidFill>
                <a:latin typeface="Aptos"/>
              </a:rPr>
              <a:t>Forecast → Decide →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786384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EEF4FB"/>
                </a:solidFill>
                <a:latin typeface="Aptos"/>
              </a:rPr>
              <a:t>We are not building another energy dashboard. We are building a testable path from tomorrow’s demand forecast to a safer, more informed operating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7223760" cy="960120"/>
          </a:xfrm>
          <a:prstGeom prst="roundRect">
            <a:avLst>
              <a:gd name="adj" fmla="val 12000"/>
            </a:avLst>
          </a:prstGeom>
          <a:solidFill>
            <a:srgbClr val="17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6168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6B84B"/>
                </a:solidFill>
                <a:latin typeface="Apto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315968"/>
            <a:ext cx="5303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EF4FB"/>
                </a:solidFill>
                <a:latin typeface="Aptos"/>
              </a:rPr>
              <a:t>Run on the real organiser dataset. Then secure one read-only campus / hostel pilot.</a:t>
            </a:r>
          </a:p>
        </p:txBody>
      </p:sp>
      <p:pic>
        <p:nvPicPr>
          <p:cNvPr id="9" name="Picture 8" descr="hardware_h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325880"/>
            <a:ext cx="324612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626364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2B5C9"/>
                </a:solidFill>
                <a:latin typeface="Aptos"/>
              </a:rPr>
              <a:t>GRIDTWIN-24 • working 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27CFB5"/>
                </a:solidFill>
                <a:latin typeface="Aptos"/>
              </a:rPr>
              <a:t>APPENDIX /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500" b="1">
                <a:solidFill>
                  <a:srgbClr val="EEF4FB"/>
                </a:solidFill>
                <a:latin typeface="Aptos"/>
              </a:rPr>
              <a:t>Technical sources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52144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A2B5C9"/>
                </a:solidFill>
                <a:latin typeface="Aptos"/>
              </a:rPr>
              <a:t>Use these to ground architecture choices; re-check model and component docs before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2B5C9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92807"/>
            <a:ext cx="91440" cy="91440"/>
          </a:xfrm>
          <a:prstGeom prst="roundRect">
            <a:avLst>
              <a:gd name="adj" fmla="val 12000"/>
            </a:avLst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83080"/>
            <a:ext cx="10222992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EF4FB"/>
                </a:solidFill>
                <a:latin typeface="Aptos"/>
              </a:rPr>
              <a:t>Official problem statement: Hacktoberfest Hack Day Lucknow PDF, page 3 — Tomorrow’s 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459736"/>
            <a:ext cx="91440" cy="91440"/>
          </a:xfrm>
          <a:prstGeom prst="roundRect">
            <a:avLst>
              <a:gd name="adj" fmla="val 12000"/>
            </a:avLst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50008"/>
            <a:ext cx="10222992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EF4FB"/>
                </a:solidFill>
                <a:latin typeface="Aptos"/>
              </a:rPr>
              <a:t>Gemma 4 model card: ai.google.dev/gemma/docs/core/model_card_4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026664"/>
            <a:ext cx="91440" cy="91440"/>
          </a:xfrm>
          <a:prstGeom prst="roundRect">
            <a:avLst>
              <a:gd name="adj" fmla="val 12000"/>
            </a:avLst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916936"/>
            <a:ext cx="10222992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EF4FB"/>
                </a:solidFill>
                <a:latin typeface="Aptos"/>
              </a:rPr>
              <a:t>Gemma 4 function calling: ai.google.dev/gemma/docs/capabilities/text/function-calling-gemma4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593591"/>
            <a:ext cx="91440" cy="91440"/>
          </a:xfrm>
          <a:prstGeom prst="roundRect">
            <a:avLst>
              <a:gd name="adj" fmla="val 12000"/>
            </a:avLst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83863"/>
            <a:ext cx="10222992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EF4FB"/>
                </a:solidFill>
                <a:latin typeface="Aptos"/>
              </a:rPr>
              <a:t>TI INA3221: ti.com/product/INA3221 — 0–26 V, 3-channel monitor; current depends on shunts.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160520"/>
            <a:ext cx="91440" cy="91440"/>
          </a:xfrm>
          <a:prstGeom prst="roundRect">
            <a:avLst>
              <a:gd name="adj" fmla="val 12000"/>
            </a:avLst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50791"/>
            <a:ext cx="10222992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EF4FB"/>
                </a:solidFill>
                <a:latin typeface="Aptos"/>
              </a:rPr>
              <a:t>Adafruit INA3221 Arduino library: github.com/adafruit/Adafruit_INA3221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472744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17720"/>
            <a:ext cx="10222992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EF4FB"/>
                </a:solidFill>
                <a:latin typeface="Aptos"/>
              </a:rPr>
              <a:t>Energy digital-twin context: Computers and Electrical Engineering, June 2026, DOI 10.1016/j.compeleceng.2026.111100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5294376"/>
            <a:ext cx="91440" cy="91440"/>
          </a:xfrm>
          <a:prstGeom prst="roundRect">
            <a:avLst>
              <a:gd name="adj" fmla="val 12000"/>
            </a:avLst>
          </a:prstGeom>
          <a:solidFill>
            <a:srgbClr val="27C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184648"/>
            <a:ext cx="10222992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EF4FB"/>
                </a:solidFill>
                <a:latin typeface="Aptos"/>
              </a:rPr>
              <a:t>Home Assistant energy docs: home-assistant.io/docs/energy/; Schneider EcoStruxure Building Energy Management.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53328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6B84B"/>
                </a:solidFill>
                <a:latin typeface="Aptos"/>
              </a:rPr>
              <a:t>Synthetic demo data is not organiser data. No measured savings or real-grid control claims are made.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